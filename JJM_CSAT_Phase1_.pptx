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38404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384048"/>
            <a:ext cx="292608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8F2FB"/>
                </a:solidFill>
              </a:rPr>
              <a:t>ASSAM  ·  JAL JEEVAN MISSION  ·  CSAT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22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Phase 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E8F2FB"/>
                </a:solidFill>
              </a:rPr>
              <a:t>Beneficiary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E8F2FB"/>
                </a:solidFill>
              </a:rPr>
              <a:t>Satisfaction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E8F2FB"/>
                </a:solidFill>
              </a:rPr>
              <a:t>Results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4279392"/>
            <a:ext cx="5303520" cy="864108"/>
          </a:xfrm>
          <a:prstGeom prst="rect">
            <a:avLst/>
          </a:prstGeom>
          <a:solidFill>
            <a:srgbClr val="1B3A6B">
              <a:alpha val="50000"/>
            </a:srgbClr>
          </a:solidFill>
          <a:ln w="12700">
            <a:solidFill>
              <a:srgbClr val="1B3A6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4315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45,863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Calls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4315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2,373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Schemes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24912" y="4315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4912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Districts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86784" y="4315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86784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Zones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94960" y="502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ABC9C"/>
                </a:solidFill>
              </a:rPr>
              <a:t>2.20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539496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out of 5.0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STATE BSI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Beneficiary Satisfaction Index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3035808"/>
            <a:ext cx="192024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0358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🟡  MODERATE  —  42.8% of max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≥ 3.5 / 5.0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48280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April 2026  ·  AI Voice-Bot Survey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PROGRAMME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What was done and why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2880360" cy="4206240"/>
          </a:xfrm>
          <a:prstGeom prst="rect">
            <a:avLst/>
          </a:prstGeom>
          <a:solidFill>
            <a:srgbClr val="E8F2FB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85800"/>
            <a:ext cx="2880360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📋  What is this?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261872"/>
            <a:ext cx="54864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61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AI voice-bot survey across all JJM water supply schemes in Assam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2011680"/>
            <a:ext cx="54864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011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45,863 households called over Phase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761488"/>
            <a:ext cx="54864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614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Beneficiaries asked 5 questions about their tap water supply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3511296"/>
            <a:ext cx="54864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5112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No human interviewer — automated outbound IVR calls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685800"/>
            <a:ext cx="2880360" cy="4206240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685800"/>
            <a:ext cx="2880360" cy="7315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🎯  Why are we doing it?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1261872"/>
            <a:ext cx="54864" cy="475488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261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2,373 JJM schemes — manual surveys are impossible at this scale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2011680"/>
            <a:ext cx="54864" cy="475488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2011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Government needs scheme-level satisfaction data to act 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2761488"/>
            <a:ext cx="54864" cy="475488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27614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AI bot enables cost-effective, consistent, repeat-cycle surveying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511296"/>
            <a:ext cx="54864" cy="475488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35112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Phase 1 establishes the baseline BSI for future comparison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685800"/>
            <a:ext cx="2880360" cy="4206240"/>
          </a:xfrm>
          <a:prstGeom prst="rect">
            <a:avLst/>
          </a:prstGeom>
          <a:solidFill>
            <a:srgbClr val="FEF3C7"/>
          </a:solidFill>
          <a:ln w="12700">
            <a:solidFill>
              <a:srgbClr val="C05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685800"/>
            <a:ext cx="2880360" cy="73152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777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5800"/>
                </a:solidFill>
              </a:rPr>
              <a:t>📊  What does BSI measure?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19088" y="1261872"/>
            <a:ext cx="54864" cy="47548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1261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BSI = Beneficiary Satisfaction Index — score out of 5.0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19088" y="2011680"/>
            <a:ext cx="54864" cy="47548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011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5 weighted questions: Quality, Quantity, Daily supply, Timing, Overall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19088" y="2761488"/>
            <a:ext cx="54864" cy="47548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27614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Aggregated: Household → Scheme → District → Zone → State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19088" y="3511296"/>
            <a:ext cx="54864" cy="475488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35112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≥3.5 = Good  ·  2.0–3.5 = Moderate  ·  &lt;2.0 = Critical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CALL FUNNEL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Where did 45,863 calls go?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Follow the funnel top to bottom — each step shows how many people remained engaged.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768096"/>
          </a:xfrm>
          <a:prstGeom prst="rect">
            <a:avLst/>
          </a:prstGeom>
          <a:solidFill>
            <a:srgbClr val="E8F2FB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73152" cy="76809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27632"/>
            <a:ext cx="859536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607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STEP 1  —  Bot dials household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All call attempts in Phase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1371600" cy="58521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097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45,863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1408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100%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11704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100% of 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93392"/>
            <a:ext cx="8595360" cy="76809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93392"/>
            <a:ext cx="73152" cy="76809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15184"/>
            <a:ext cx="2350008" cy="91440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48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STEP 2  —  Person consents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27.4% agreed  |  69.1% hung up immediately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084832"/>
            <a:ext cx="1371600" cy="58521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0848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12,583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27.4%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78040" y="215798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27.4% of total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80944"/>
            <a:ext cx="8595360" cy="76809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80944"/>
            <a:ext cx="73152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02736"/>
            <a:ext cx="1728216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35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STEP 3  —  Answers Q1  (usable)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3649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Only these calls contribute to any scoring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3072384"/>
            <a:ext cx="1371600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0723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9,224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20.1%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78040" y="31455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20.1% of total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968496"/>
            <a:ext cx="8595360" cy="768096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968496"/>
            <a:ext cx="73152" cy="7680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590288"/>
            <a:ext cx="292608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STEP 4  —  Completes full survey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3525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Answered all 5 questions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4059936"/>
            <a:ext cx="1371600" cy="5852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4059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1,578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69280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3.4%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78040" y="41330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3.4% of total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937760"/>
            <a:ext cx="8595360" cy="146304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937760"/>
            <a:ext cx="73152" cy="1463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493776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⚠  19,909 calls (43.4%) ended under 30 seconds — zero data. Single biggest fix: redesign the opening bot script.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KPI SATISFACTION 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% of respondents satisfied per survey question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 questions asked. Scores below show the % who answered 'Yes / Satisfied'.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347472" cy="60350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42416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Water Quality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316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"Is the water clean enough?"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1097280"/>
            <a:ext cx="438912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097280"/>
            <a:ext cx="3173334" cy="40233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414" y="1097280"/>
            <a:ext cx="594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72.3%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5008" y="1042416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9E6F"/>
                </a:solidFill>
              </a:rPr>
              <a:t>Strongest KPI — best performing dimension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638544" y="941832"/>
            <a:ext cx="0" cy="4114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684264" y="941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70% target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847088"/>
            <a:ext cx="347472" cy="6035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47088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Water Quantity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2121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"Is there enough water?"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1901952"/>
            <a:ext cx="438912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1901952"/>
            <a:ext cx="2730033" cy="4023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6113" y="1901952"/>
            <a:ext cx="594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62.2%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65008" y="1847088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563A8"/>
                </a:solidFill>
              </a:rPr>
              <a:t>Moderate — gaps in BTAD and Barak Valley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651760"/>
            <a:ext cx="347472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51760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Consistent Timing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"Does it arrive at a fixed time?"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66160" y="2706624"/>
            <a:ext cx="438912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2706624"/>
            <a:ext cx="250179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7878" y="2706624"/>
            <a:ext cx="594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57%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65008" y="26517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Operations issue — not infrastructure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456432"/>
            <a:ext cx="347472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456432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Overall Satisfied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3730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"Are you satisfied with your supply?"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3511296"/>
            <a:ext cx="438912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3511296"/>
            <a:ext cx="2291121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7201" y="3511296"/>
            <a:ext cx="594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52.2%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65008" y="3456432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25.2% actively dissatisfied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261104"/>
            <a:ext cx="347472" cy="6035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61104"/>
            <a:ext cx="347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Water Daily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" y="4535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"Did water come every day (7 days)?"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566160" y="4315968"/>
            <a:ext cx="438912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6160" y="4315968"/>
            <a:ext cx="1360627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86707" y="4315968"/>
            <a:ext cx="594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65008" y="4261104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WEAKEST — 69% report days without water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74320" y="49743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Overall split: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27632" y="4974336"/>
            <a:ext cx="3723071" cy="16459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82496" y="4974336"/>
            <a:ext cx="36682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52.2%  Satisfied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50703" y="4974336"/>
            <a:ext cx="161190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5567" y="4974336"/>
            <a:ext cx="155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22.6%  Neutral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62607" y="4974336"/>
            <a:ext cx="1797345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17471" y="4974336"/>
            <a:ext cx="1742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25.2%  Dissatisfied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ZONE-LEVEL 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BSI score per zone  |  0.70+ = Good  ·  No zone currently meets this benchmark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Zone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77440" y="713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BSI Score /1.0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0" y="713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Calls Made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0" y="713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Valid Schemes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Assessment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950976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42416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78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North Assam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152144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152144"/>
            <a:ext cx="752368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152144"/>
            <a:ext cx="67921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0.484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1133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12,830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133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F"/>
                </a:solidFill>
              </a:rPr>
              <a:t>252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115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Highest BSI — most responsive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042416"/>
            <a:ext cx="54864" cy="49377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600200"/>
            <a:ext cx="859536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6367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Upper Assam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1709928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1709928"/>
            <a:ext cx="744596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1709928"/>
            <a:ext cx="6714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0.479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1691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8,302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E6F"/>
                </a:solidFill>
              </a:rPr>
              <a:t>174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673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Strong — Upper Assam performing well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1600200"/>
            <a:ext cx="54864" cy="49377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15798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94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KAAC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2267712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2267712"/>
            <a:ext cx="719724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2267712"/>
            <a:ext cx="6465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0.463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2249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1,095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2249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Above average — limited sample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157984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859536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752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Lower Assam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77440" y="2825496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2825496"/>
            <a:ext cx="70728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2825496"/>
            <a:ext cx="63413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0.455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0" y="2807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12,995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2807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173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2788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Close to state average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2715768"/>
            <a:ext cx="54864" cy="4937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27355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3101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Barak Valley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377440" y="3383280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3383280"/>
            <a:ext cx="58914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3383280"/>
            <a:ext cx="51599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0.379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0" y="3364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8,603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0" y="33649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48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Low — Bengali region, wrong language bot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3273552"/>
            <a:ext cx="54864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831336"/>
            <a:ext cx="859536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3867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BTAD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377440" y="3941064"/>
            <a:ext cx="1554480" cy="2560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3941064"/>
            <a:ext cx="596920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0" y="3941064"/>
            <a:ext cx="523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0.384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0" y="39227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1,943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0" y="392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17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3904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Critical — infrastructure failures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3831336"/>
            <a:ext cx="54864" cy="4937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389120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DHAC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37744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N/A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11480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8640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949440" y="4462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 data — 95 calls, 1.1% consent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4320" y="4389120"/>
            <a:ext cx="54864" cy="4937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4992624"/>
            <a:ext cx="8595360" cy="164592"/>
          </a:xfrm>
          <a:prstGeom prst="rect">
            <a:avLst/>
          </a:prstGeom>
          <a:solidFill>
            <a:srgbClr val="E8F2FB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7472" y="499262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563A8"/>
                </a:solidFill>
              </a:rPr>
              <a:t>State total:  0.4406 / 1.0  (44.1%)  ·  Benchmark ≥ 0.70 = Good  ·  No zone meets this benchmark in Phase 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DISTRICT 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Top 5 and bottom 5 districts by BSI score  ·  35 districts total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251960" cy="274320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42519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🏆  Top 5 Districts — highest BSI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251960" cy="67665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24128"/>
            <a:ext cx="54864" cy="67665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Sivasagar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Upper Assam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0" y="11155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E6F"/>
                </a:solidFill>
              </a:rPr>
              <a:t>0.532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858768" y="1188720"/>
            <a:ext cx="548640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1887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801368"/>
            <a:ext cx="4251960" cy="67665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01368"/>
            <a:ext cx="54864" cy="67665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Dhubri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2148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Lower Assam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18928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E6F"/>
                </a:solidFill>
              </a:rPr>
              <a:t>0.521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58768" y="1965960"/>
            <a:ext cx="548640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1965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2578608"/>
            <a:ext cx="4251960" cy="67665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578608"/>
            <a:ext cx="54864" cy="67665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Jorhat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Upper Assam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26700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E6F"/>
                </a:solidFill>
              </a:rPr>
              <a:t>0.527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858768" y="2743200"/>
            <a:ext cx="548640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7432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355848"/>
            <a:ext cx="4251960" cy="67665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55848"/>
            <a:ext cx="54864" cy="67665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Golaghat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Upper Assam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26080" y="344728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E6F"/>
                </a:solidFill>
              </a:rPr>
              <a:t>0.517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858768" y="3520440"/>
            <a:ext cx="548640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3520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4133088"/>
            <a:ext cx="4251960" cy="676656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33088"/>
            <a:ext cx="54864" cy="676656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Bajali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480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Lower Assam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26080" y="42245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E6F"/>
                </a:solidFill>
              </a:rPr>
              <a:t>0.487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3858768" y="4297680"/>
            <a:ext cx="548640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58768" y="42976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54880" y="658368"/>
            <a:ext cx="0" cy="4389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658368"/>
            <a:ext cx="39319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  Bottom 5 Districts — priority intervention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1024128"/>
            <a:ext cx="3931920" cy="676656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1024128"/>
            <a:ext cx="54864" cy="6766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1069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Hailakandi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10912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Barak Valley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49440" y="1115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0.279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7955280" y="1207008"/>
            <a:ext cx="7772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12070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1801368"/>
            <a:ext cx="3931920" cy="676656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2040" y="1801368"/>
            <a:ext cx="54864" cy="6766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Tamulpur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10912" y="2148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BTAD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49440" y="18928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0.329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7955280" y="1984248"/>
            <a:ext cx="7772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1984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892040" y="2578608"/>
            <a:ext cx="393192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2578608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10912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Baksa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10912" y="2926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BTAD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949440" y="26700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0.355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7955280" y="2761488"/>
            <a:ext cx="7772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0" y="2761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892040" y="3355848"/>
            <a:ext cx="393192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92040" y="3355848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10912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Chirang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10912" y="3703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BTAD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49440" y="344728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0.400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7955280" y="3538728"/>
            <a:ext cx="7772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55280" y="3538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Needs Attention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892040" y="4133088"/>
            <a:ext cx="393192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92040" y="4133088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10912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Udalguri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010912" y="4480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BTAD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949440" y="4224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0.371</a:t>
            </a:r>
            <a:endParaRPr lang="en-US" sz="2200" dirty="0"/>
          </a:p>
        </p:txBody>
      </p:sp>
      <p:sp>
        <p:nvSpPr>
          <p:cNvPr id="79" name="Shape 77"/>
          <p:cNvSpPr/>
          <p:nvPr/>
        </p:nvSpPr>
        <p:spPr>
          <a:xfrm>
            <a:off x="7955280" y="4315968"/>
            <a:ext cx="7772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55280" y="4315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Needs Attention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74320" y="4956048"/>
            <a:ext cx="8549640" cy="182880"/>
          </a:xfrm>
          <a:prstGeom prst="rect">
            <a:avLst/>
          </a:prstGeom>
          <a:solidFill>
            <a:srgbClr val="E8F2FB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495604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A8"/>
                </a:solidFill>
              </a:rPr>
              <a:t>Score gap:  Best district (Sivasagar 0.532) vs Worst (Hailakandi 0.279) = 1.9×  ·  State average of 0.44 masks enormous local variation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SCHEME COVERAGE &amp; PERFORMANCE BANDS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2,373 schemes total  ·  How many have enough data?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251960" cy="274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42519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🏗  Scheme Coverage — 2,373 total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33272"/>
            <a:ext cx="4251960" cy="1060704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33272"/>
            <a:ext cx="64008" cy="106070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E6F"/>
                </a:solidFill>
              </a:rPr>
              <a:t>✅  Valid  —  ≥ 6 usable responses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E6F"/>
                </a:solidFill>
              </a:rPr>
              <a:t>615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E6F"/>
                </a:solidFill>
              </a:rPr>
              <a:t>25.9%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1874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Statistically valid. Used in all scoring.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51960" cy="10607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21992"/>
            <a:ext cx="64008" cy="10607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13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⚠   Flagged  —  1 to 5 responses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1,426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774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60.1%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3063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Scored but excluded from aggregations.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4251960" cy="1060704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10712"/>
            <a:ext cx="64008" cy="10607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❌  No data  —  0 responses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91C1C"/>
                </a:solidFill>
              </a:rPr>
              <a:t>~332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37744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14.0%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" y="4251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Bot did not reach — re-call in Phase 2.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566928" cy="329184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3484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17.6%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7824" y="4434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E6F"/>
                </a:solidFill>
              </a:rPr>
              <a:t>Functional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0" y="4434840"/>
            <a:ext cx="1828800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4348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82.4%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62656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</a:rPr>
              <a:t>Non-Functional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658368"/>
            <a:ext cx="0" cy="4480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658368"/>
            <a:ext cx="393192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Performance Bands — schemes per dimension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1225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Regularity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1188720"/>
            <a:ext cx="267076" cy="34747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9276" y="1188720"/>
            <a:ext cx="555383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5852" y="1188720"/>
            <a:ext cx="5188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497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94659" y="1188720"/>
            <a:ext cx="14583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235" y="1188720"/>
            <a:ext cx="14217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1305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452959" y="1188720"/>
            <a:ext cx="371001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9535" y="1188720"/>
            <a:ext cx="3344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332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887968" y="1225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55% critical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2002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Timeliness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1965960"/>
            <a:ext cx="572145" cy="34747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1965960"/>
            <a:ext cx="5355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512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744345" y="1965960"/>
            <a:ext cx="253666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8011" y="1965960"/>
            <a:ext cx="449224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34587" y="1965960"/>
            <a:ext cx="4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402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47235" y="1965960"/>
            <a:ext cx="1376725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83811" y="1965960"/>
            <a:ext cx="1340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1232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887968" y="2002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52% critical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92040" y="2779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Quantity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72200" y="2743200"/>
            <a:ext cx="806814" cy="34747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08776" y="2743200"/>
            <a:ext cx="7702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722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979014" y="2743200"/>
            <a:ext cx="586673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15590" y="2743200"/>
            <a:ext cx="5500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525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565687" y="2743200"/>
            <a:ext cx="49504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02263" y="2743200"/>
            <a:ext cx="45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443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060727" y="2743200"/>
            <a:ext cx="763233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7303" y="2743200"/>
            <a:ext cx="7266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683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887968" y="2779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30% critical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92040" y="3557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Quality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72200" y="3520440"/>
            <a:ext cx="1119706" cy="34747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08776" y="3520440"/>
            <a:ext cx="10831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291906" y="3520440"/>
            <a:ext cx="41905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28482" y="3520440"/>
            <a:ext cx="382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375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710958" y="3520440"/>
            <a:ext cx="327419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47534" y="3520440"/>
            <a:ext cx="2908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293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038377" y="3520440"/>
            <a:ext cx="785583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74953" y="3520440"/>
            <a:ext cx="7490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703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887968" y="35570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42% critical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892040" y="4334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Overall Sat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72200" y="4297680"/>
            <a:ext cx="613492" cy="34747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08776" y="4297680"/>
            <a:ext cx="57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549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785692" y="4297680"/>
            <a:ext cx="489453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22268" y="4297680"/>
            <a:ext cx="452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438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275144" y="4297680"/>
            <a:ext cx="718534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1720" y="4297680"/>
            <a:ext cx="6819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643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993679" y="4297680"/>
            <a:ext cx="830281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30255" y="4297680"/>
            <a:ext cx="7937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743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887968" y="4334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27% critical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892040" y="5010912"/>
            <a:ext cx="128016" cy="109728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47488" y="49926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Good (≥70%)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897880" y="5010912"/>
            <a:ext cx="128016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53328" y="49926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Needs Attention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903720" y="5010912"/>
            <a:ext cx="128016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59168" y="49926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Critical (&lt;40%)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909560" y="5010912"/>
            <a:ext cx="12801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65008" y="49926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No Response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CYCLE INTELLIGENCE  —  REPEAT vs FIRST-TIME CALLERS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What happens when the same household is called again?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438912"/>
          </a:xfrm>
          <a:prstGeom prst="rect">
            <a:avLst/>
          </a:prstGeom>
          <a:solidFill>
            <a:srgbClr val="E8F2FB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583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A8"/>
                </a:solidFill>
              </a:rPr>
              <a:t>Context:  </a:t>
            </a:r>
            <a:pPr algn="l" indent="0" marL="0">
              <a:buNone/>
            </a:pPr>
            <a:r>
              <a:rPr lang="en-US" sz="950" dirty="0">
                <a:solidFill>
                  <a:srgbClr val="0D1F3C"/>
                </a:solidFill>
              </a:rPr>
              <a:t>170 of 45,863 calls (0.37%) were to beneficiaries also called in a previous cycle. Every single engagement metric improved for repeat callers — suggesting familiarity with the AI bot drives better data quality.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12070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First-time caller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1207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Repeat caller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0" y="1207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Change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36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Sample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45,693 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170 calls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07808" y="1591056"/>
            <a:ext cx="804672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5910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90195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947672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947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Consent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947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27.4%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9476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44.7%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07808" y="2002536"/>
            <a:ext cx="804672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002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+63%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31343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35915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359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Q1 answered (usable)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20.0%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59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37.1%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07808" y="2414016"/>
            <a:ext cx="804672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24140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+86%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72491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70632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770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Avg call duration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60 seconds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770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82 seconds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07808" y="2825496"/>
            <a:ext cx="804672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28254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+37%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13639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18211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182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Full survey completed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9768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3.4%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5.9%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07808" y="3236976"/>
            <a:ext cx="804672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32369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~2×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54787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593592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593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BSI score /1.0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3593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0.41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3593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0.45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07808" y="3648456"/>
            <a:ext cx="804672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07808" y="36484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+9%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95935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005072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005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Quality satisfied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29768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72.2%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09360" y="4005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E6F"/>
                </a:solidFill>
              </a:rPr>
              <a:t>89.3%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607808" y="4059936"/>
            <a:ext cx="804672" cy="256032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07808" y="40599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+17pp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437083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4416552"/>
            <a:ext cx="859536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</a:rPr>
              <a:t>Overall satisfied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29768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51.8%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09360" y="44165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44.8%*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607808" y="4471416"/>
            <a:ext cx="80467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07808" y="44714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−7pp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4782312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 Repeat callers give more candid feedback — lower overall satisfaction may reflect more honest reporting, not worse service.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solidFill>
            <a:srgbClr val="E0F5EE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4956048"/>
            <a:ext cx="64008" cy="182880"/>
          </a:xfrm>
          <a:prstGeom prst="rect">
            <a:avLst/>
          </a:prstGeom>
          <a:solidFill>
            <a:srgbClr val="0D9E6F"/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9E6F"/>
                </a:solidFill>
              </a:rPr>
              <a:t>Recommendation:  Prioritise re-calling the same households in Phase 2 — familiarity with the bot consistently improves data quality.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9377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ENERGY CONSUMPTION MONITORING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" y="54864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Theoretical daily kWh  vs  Real-time actual kWh  |  Per IMIS scheme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94944"/>
            <a:ext cx="8778240" cy="438912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69494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Formula:  </a:t>
            </a:r>
            <a:pPr algn="l" indent="0" marL="0">
              <a:buNone/>
            </a:pPr>
            <a:r>
              <a:rPr lang="en-US" sz="1000" b="1" dirty="0">
                <a:solidFill>
                  <a:srgbClr val="1ABC9C"/>
                </a:solidFill>
              </a:rPr>
              <a:t>Theoretical kWh = (HH × 55 L × Head × 9.81) ÷ (Pump efficiency × Motor efficiency × 3,600,000)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2834640" cy="256032"/>
          </a:xfrm>
          <a:prstGeom prst="rect">
            <a:avLst/>
          </a:prstGeom>
          <a:solidFill>
            <a:srgbClr val="0D9E6F">
              <a:alpha val="20000"/>
            </a:srgbClr>
          </a:solidFill>
          <a:ln w="12700">
            <a:solidFill>
              <a:srgbClr val="0D9E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9E6F"/>
                </a:solidFill>
              </a:rPr>
              <a:t>Gap within 10%  →  🟢 Green — Running well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1207008"/>
            <a:ext cx="2834640" cy="2560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Gap &gt; 20%  →  🟡 Amber Alert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53912" y="1207008"/>
            <a:ext cx="2834640" cy="256032"/>
          </a:xfrm>
          <a:prstGeom prst="rect">
            <a:avLst/>
          </a:prstGeom>
          <a:solidFill>
            <a:srgbClr val="B91C1C">
              <a:alpha val="20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Gap &gt; 50%  →  🔴 Red — Leakage / Theft / Failure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554480"/>
            <a:ext cx="28346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554480"/>
            <a:ext cx="2834640" cy="31089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554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SCHEME INPUTS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719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D0E4F5"/>
                </a:solidFill>
              </a:rPr>
              <a:t>Fixed parameters from IMIS portal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1938528"/>
            <a:ext cx="54864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38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Pump Capacity (HP/kW)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The engine — determines max energy draw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54864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86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Households Served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2450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Drives demand: HH × 55 litres/person/day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54864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33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Pipeline &amp; Head (m)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27980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Elevation + friction — higher head = more energy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980944"/>
            <a:ext cx="54864" cy="2011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80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IMIS Scheme 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145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Links inputs to sensor data per scheme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72968" y="1554480"/>
            <a:ext cx="28346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2968" y="1554480"/>
            <a:ext cx="2834640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1554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ENERGY CALCULATION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4408" y="1719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D0E4F5"/>
                </a:solidFill>
              </a:rPr>
              <a:t>Theoretical daily kWh formula engine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64408" y="1938528"/>
            <a:ext cx="54864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1938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</a:rPr>
              <a:t>Volume Needed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74136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HH × 55 L = total daily litres required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64408" y="2286000"/>
            <a:ext cx="54864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2286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</a:rPr>
              <a:t>Pump Run Time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74136" y="2450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Volume ÷ flow rate = hours needed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64408" y="2633472"/>
            <a:ext cx="54864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4136" y="2633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</a:rPr>
              <a:t>55 LPCD Standard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74136" y="27980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JJM norm: 55 litres per capita per day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64408" y="2980944"/>
            <a:ext cx="54864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2980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</a:rPr>
              <a:t>Theoretical kWh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74136" y="3145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HP × run hrs × 0.746 = expected energy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53912" y="1554480"/>
            <a:ext cx="28346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53912" y="1554480"/>
            <a:ext cx="2834640" cy="310896"/>
          </a:xfrm>
          <a:prstGeom prst="rect">
            <a:avLst/>
          </a:prstGeom>
          <a:solidFill>
            <a:srgbClr val="1F7EA8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1554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REAL-TIME DATA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45352" y="17190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D0E4F5"/>
                </a:solidFill>
              </a:rPr>
              <a:t>Live sensor readings vs expected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45352" y="1938528"/>
            <a:ext cx="54864" cy="201168"/>
          </a:xfrm>
          <a:prstGeom prst="rect">
            <a:avLst/>
          </a:prstGeom>
          <a:solidFill>
            <a:srgbClr val="1F7EA8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1938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7EA8"/>
                </a:solidFill>
              </a:rPr>
              <a:t>Smart Energy Meter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55080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Actual kWh/day — ground truth of consumption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45352" y="2286000"/>
            <a:ext cx="54864" cy="201168"/>
          </a:xfrm>
          <a:prstGeom prst="rect">
            <a:avLst/>
          </a:prstGeom>
          <a:solidFill>
            <a:srgbClr val="1F7EA8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2286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7EA8"/>
                </a:solidFill>
              </a:rPr>
              <a:t>IoT / SCADA Sensor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2450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Pump run hours — was the pump over-running?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45352" y="2633472"/>
            <a:ext cx="54864" cy="201168"/>
          </a:xfrm>
          <a:prstGeom prst="rect">
            <a:avLst/>
          </a:prstGeom>
          <a:solidFill>
            <a:srgbClr val="1F7EA8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2633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7EA8"/>
                </a:solidFill>
              </a:rPr>
              <a:t>Flow Meter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55080" y="27980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Litres actually pumped — was 55 LPCD met?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245352" y="2980944"/>
            <a:ext cx="54864" cy="201168"/>
          </a:xfrm>
          <a:prstGeom prst="rect">
            <a:avLst/>
          </a:prstGeom>
          <a:solidFill>
            <a:srgbClr val="1F7EA8"/>
          </a:solidFill>
          <a:ln w="12700">
            <a:solidFill>
              <a:srgbClr val="1F7E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2980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7EA8"/>
                </a:solidFill>
              </a:rPr>
              <a:t>Timestamp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55080" y="3145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Time-of-operation for scheduling analysis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82880" y="3639312"/>
            <a:ext cx="2834640" cy="694944"/>
          </a:xfrm>
          <a:prstGeom prst="rect">
            <a:avLst/>
          </a:prstGeom>
          <a:solidFill>
            <a:srgbClr val="B91C1C">
              <a:alpha val="14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2880" y="3639312"/>
            <a:ext cx="283464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ENERGY GAP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92608" y="39319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Actual kWh − Theoretical kWh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92608" y="411480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Positive = more energy than expected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72968" y="3639312"/>
            <a:ext cx="2834640" cy="694944"/>
          </a:xfrm>
          <a:prstGeom prst="rect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72968" y="3639312"/>
            <a:ext cx="28346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82696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EFFICIENCY 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282696" y="39319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(Theoretical ÷ Actual) × 100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282696" y="411480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&lt;80% wasteful  ·  &gt;90% well-run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53912" y="3639312"/>
            <a:ext cx="2834640" cy="694944"/>
          </a:xfrm>
          <a:prstGeom prst="rect">
            <a:avLst/>
          </a:prstGeom>
          <a:solidFill>
            <a:srgbClr val="C05800">
              <a:alpha val="14000"/>
            </a:srgbClr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53912" y="3639312"/>
            <a:ext cx="2834640" cy="73152"/>
          </a:xfrm>
          <a:prstGeom prst="rect">
            <a:avLst/>
          </a:prstGeom>
          <a:solidFill>
            <a:srgbClr val="C05800"/>
          </a:solidFill>
          <a:ln w="12700">
            <a:solidFill>
              <a:srgbClr val="C058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63640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5800"/>
                </a:solidFill>
              </a:rPr>
              <a:t>ALERT FLAG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63640" y="39319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Auto: Green / Amber / Red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263640" y="411480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Red = leakage, theft, or equipment failure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82880" y="4425696"/>
            <a:ext cx="8778240" cy="237744"/>
          </a:xfrm>
          <a:prstGeom prst="rect">
            <a:avLst/>
          </a:prstGeom>
          <a:solidFill>
            <a:srgbClr val="20001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⚠  DATA GAPS:  Pump HP/kW  ·  Pipeline head (m)  ·  Pump run hours  ·  Flow meter (litres pumped)  ·  Smart meter (actual kWh/day)  —  All required to activate this model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SCHEME ENERGY DASHBOARD  —  DAILY MONITORING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IMIS ID: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30010486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|  Scheme: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Chandrapur MPWSS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|  District: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Baksa, BTAD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  |  Date: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Apr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1060704"/>
            <a:ext cx="16459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60704"/>
            <a:ext cx="1645920" cy="73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Theoretical kWh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A8"/>
                </a:solidFill>
              </a:rPr>
              <a:t>18.4 kWh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Expected at 55 LPCD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56816" y="1060704"/>
            <a:ext cx="16459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1060704"/>
            <a:ext cx="16459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kWh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48256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27.1 kWh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048256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Smart meter today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30752" y="1060704"/>
            <a:ext cx="16459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060704"/>
            <a:ext cx="1645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Energy Gap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22192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+8.7 kWh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22192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Amber Alert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04688" y="1060704"/>
            <a:ext cx="16459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1060704"/>
            <a:ext cx="1645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Efficiency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96128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67.9%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96128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Below 80% target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78624" y="1060704"/>
            <a:ext cx="16459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1060704"/>
            <a:ext cx="1645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Litres Pumped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70064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31,500 L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70064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78.6% of 55 LPCD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084832"/>
            <a:ext cx="4023360" cy="2450592"/>
          </a:xfrm>
          <a:prstGeom prst="rect">
            <a:avLst/>
          </a:prstGeom>
          <a:solidFill>
            <a:srgbClr val="0D1F3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2084832"/>
            <a:ext cx="402336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Theoretical Energy  —  Step by Step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Households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76272" y="2505456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25054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44 HH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20440" y="24688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Daily standard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76272" y="2798064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2798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55 L/person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0440" y="276148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=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Total volume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76272" y="3090672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30906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2,420 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20440" y="305409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÷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Pump flow rate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176272" y="3383280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18 L/min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20440" y="33467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=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Run time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176272" y="3675888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76272" y="36758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2.24 hrs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20440" y="363931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×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Pump power (HP×0.746)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176272" y="3968496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76272" y="39684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7.46 kW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520440" y="39319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A8"/>
                </a:solidFill>
              </a:rPr>
              <a:t>=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7432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Theoretical kWh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76272" y="4261104"/>
            <a:ext cx="1280160" cy="182880"/>
          </a:xfrm>
          <a:prstGeom prst="rect">
            <a:avLst/>
          </a:prstGeom>
          <a:solidFill>
            <a:srgbClr val="132742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</a:rPr>
              <a:t>16.7 kWh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" y="44622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* Uses example values — replace with actual IMIS scheme data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389120" y="2084832"/>
            <a:ext cx="4572000" cy="2450592"/>
          </a:xfrm>
          <a:prstGeom prst="rect">
            <a:avLst/>
          </a:prstGeom>
          <a:solidFill>
            <a:srgbClr val="0D1F3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89120" y="2084832"/>
            <a:ext cx="45720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805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 Analysis  &amp;  Alert Logic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48056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Theoretical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852160" y="2505456"/>
            <a:ext cx="1645920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5216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18.4 kWh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4805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Actual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852160" y="2852928"/>
            <a:ext cx="2432304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0" y="285292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27.1 kWh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321040" y="285292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+8.7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480560" y="3236976"/>
            <a:ext cx="4297680" cy="45720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0" y="3236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🟡  AMBER ALERT  —  Gap = +47.3%  ·  Efficiency = 67.9%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0" y="3474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Gap &gt; 20% threshold. Possible: pump over-running, minor leakage, meter calibration.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80560" y="3785616"/>
            <a:ext cx="4297680" cy="640080"/>
          </a:xfrm>
          <a:prstGeom prst="rect">
            <a:avLst/>
          </a:prstGeom>
          <a:solidFill>
            <a:srgbClr val="080F1A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0" y="3813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Variables needed per scheme: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0" y="4005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2FB"/>
                </a:solidFill>
              </a:rPr>
              <a:t>From IMIS (available): </a:t>
            </a:r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HH served, scheme name, district, zone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572000" y="4169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Missing (IMIS): </a:t>
            </a:r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Pump HP/kW, pipeline head in metres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572000" y="43342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IoT sensors needed: </a:t>
            </a:r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kWh/day, pump run hours, litres pumped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2026-04-20T23:12:06Z</dcterms:created>
  <dcterms:modified xsi:type="dcterms:W3CDTF">2026-04-20T23:12:06Z</dcterms:modified>
</cp:coreProperties>
</file>